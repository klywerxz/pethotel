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vetik" initials="S" lastIdx="2" clrIdx="0">
    <p:extLst>
      <p:ext uri="{19B8F6BF-5375-455C-9EA6-DF929625EA0E}">
        <p15:presenceInfo xmlns:p15="http://schemas.microsoft.com/office/powerpoint/2012/main" userId="Svet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1T04:04:54.984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  <p:cm authorId="1" dt="2026-06-01T04:04:55.290" idx="2">
    <p:pos x="146" y="146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hyperlink" Target="http://localhost:800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0CE450-E96F-4344-80AB-B08066176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798064"/>
            <a:ext cx="8915399" cy="1979317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СИСТЕМЫ УЧЁТА КЛИЕНТОВ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ГОСТИНИЦЫ ДЛЯ ЖИВОТНЫХ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BACDF4-DFEC-44EB-B899-6875D0E83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8544" y="4777379"/>
            <a:ext cx="4866068" cy="1126283"/>
          </a:xfrm>
        </p:spPr>
        <p:txBody>
          <a:bodyPr>
            <a:normAutofit lnSpcReduction="10000"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Выполнил(а): студент группы ИПО-21.24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Гуляева Светлана Алексеевна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Рыбаков Александр Сергеевич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31F3C-F2AF-4302-89FD-0B62F129F690}"/>
              </a:ext>
            </a:extLst>
          </p:cNvPr>
          <p:cNvSpPr txBox="1"/>
          <p:nvPr/>
        </p:nvSpPr>
        <p:spPr>
          <a:xfrm>
            <a:off x="379476" y="301074"/>
            <a:ext cx="60990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ДЕПАРТАМЕНТ ОБРАЗОВАНИЯ И НАУКИ ГОРОДА МОСКВЫ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образовательное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города Москвы «Колледж малого бизнеса № 4»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(ГБПОУ КМБ № 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AB25E-6EBD-4F31-BE30-06BEFDA6A86E}"/>
              </a:ext>
            </a:extLst>
          </p:cNvPr>
          <p:cNvSpPr txBox="1"/>
          <p:nvPr/>
        </p:nvSpPr>
        <p:spPr>
          <a:xfrm>
            <a:off x="539496" y="5725929"/>
            <a:ext cx="60990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КУРСОВАЯ РАБОТА</a:t>
            </a:r>
          </a:p>
          <a:p>
            <a:r>
              <a:rPr lang="ru-RU" sz="1600" dirty="0"/>
              <a:t>по специальности 09.02.07 Информационные системы и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41059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092AF-7E47-4E30-8FF5-77AA2247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786" y="520889"/>
            <a:ext cx="8911687" cy="872996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45B134-5308-4EDF-B911-FE160C0BA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786" y="1540189"/>
            <a:ext cx="8915400" cy="3777622"/>
          </a:xfrm>
        </p:spPr>
        <p:txBody>
          <a:bodyPr>
            <a:norm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Актуальность разработки автоматизированной системы учёта клиентов гостиницы для животных продиктована необходимостью решения комплекса взаимосвязанных проблем: растущей потребностью в профессиональном уходе за питомцами во время отсутствия хозяев, несовершенством существующих методов учёта на базе бумажных носителей и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Excel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-таблиц, а также острой потребностью в оперативном управлении бизнес-процессами.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1279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3AC0A-64F3-481D-86B9-8A474466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545601"/>
            <a:ext cx="8911687" cy="80235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74567-8C7D-466A-8EA6-6132E51F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8"/>
            <a:ext cx="8915400" cy="4568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ЦЕЛЬ:</a:t>
            </a:r>
          </a:p>
          <a:p>
            <a:r>
              <a:rPr lang="ru-RU" dirty="0"/>
              <a:t>Разработать систему учёта клиентов гостиницы для животных,</a:t>
            </a:r>
          </a:p>
          <a:p>
            <a:pPr marL="0" indent="0">
              <a:buNone/>
            </a:pPr>
            <a:r>
              <a:rPr lang="ru-RU" dirty="0"/>
              <a:t>обеспечивающую автоматизацию бизнес-процессов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ЗАДАЧИ:</a:t>
            </a:r>
          </a:p>
          <a:p>
            <a:pPr marL="0" indent="0">
              <a:buNone/>
            </a:pPr>
            <a:r>
              <a:rPr lang="ru-RU" dirty="0"/>
              <a:t>1. Провести анализ предметной области и существующих аналогов</a:t>
            </a:r>
          </a:p>
          <a:p>
            <a:pPr marL="0" indent="0">
              <a:buNone/>
            </a:pPr>
            <a:r>
              <a:rPr lang="ru-RU" dirty="0"/>
              <a:t>2. Спроектировать базу данных (8+ таблиц)</a:t>
            </a:r>
          </a:p>
          <a:p>
            <a:pPr marL="0" indent="0">
              <a:buNone/>
            </a:pPr>
            <a:r>
              <a:rPr lang="ru-RU" dirty="0"/>
              <a:t>3. Разработать серверную часть на </a:t>
            </a:r>
            <a:r>
              <a:rPr lang="ru-RU" dirty="0" err="1"/>
              <a:t>FastAPI</a:t>
            </a:r>
            <a:r>
              <a:rPr lang="ru-RU" dirty="0"/>
              <a:t> с REST API</a:t>
            </a:r>
          </a:p>
          <a:p>
            <a:pPr marL="0" indent="0">
              <a:buNone/>
            </a:pPr>
            <a:r>
              <a:rPr lang="ru-RU" dirty="0"/>
              <a:t>4. Реализовать веб-интерфейс для трёх ролей:</a:t>
            </a:r>
          </a:p>
          <a:p>
            <a:pPr marL="0" indent="0">
              <a:buNone/>
            </a:pPr>
            <a:r>
              <a:rPr lang="ru-RU" dirty="0"/>
              <a:t>администратор, менеджер, клиент</a:t>
            </a:r>
          </a:p>
          <a:p>
            <a:pPr marL="0" indent="0">
              <a:buNone/>
            </a:pPr>
            <a:r>
              <a:rPr lang="ru-RU" dirty="0"/>
              <a:t>5. Провести тестирование и подготовить документацию</a:t>
            </a:r>
          </a:p>
        </p:txBody>
      </p:sp>
    </p:spTree>
    <p:extLst>
      <p:ext uri="{BB962C8B-B14F-4D97-AF65-F5344CB8AC3E}">
        <p14:creationId xmlns:p14="http://schemas.microsoft.com/office/powerpoint/2010/main" val="229390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E11C9-F5FE-4EE4-9212-7A838F9E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379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27426C-1B9B-42F3-8FED-2E4E7F942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21223"/>
            <a:ext cx="8915400" cy="3777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 PostgreSQL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JavaScript(fetch)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78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78E8D-F451-4573-8C04-F697C4E1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5547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08B4C7-8682-46E1-ABAA-5F707DFE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8" y="1279588"/>
            <a:ext cx="3197950" cy="5441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1BF173-BD22-4158-A4C8-2190E563B286}"/>
              </a:ext>
            </a:extLst>
          </p:cNvPr>
          <p:cNvSpPr txBox="1"/>
          <p:nvPr/>
        </p:nvSpPr>
        <p:spPr>
          <a:xfrm>
            <a:off x="4012570" y="1377512"/>
            <a:ext cx="79911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построена по трёхуровневой архитектуре: клиентская часть (HTML/CSS/JS в браузере), серверная часть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база данных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Клиент отправляет REST-запросы, сервер выполняет бизнес-логику и взаимодействует с БД через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Аутентификация реализована через JWT-токены с разграничением доступа по ролям.</a:t>
            </a:r>
          </a:p>
        </p:txBody>
      </p:sp>
    </p:spTree>
    <p:extLst>
      <p:ext uri="{BB962C8B-B14F-4D97-AF65-F5344CB8AC3E}">
        <p14:creationId xmlns:p14="http://schemas.microsoft.com/office/powerpoint/2010/main" val="50225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FD5EA-A9CC-4C9F-A842-CC31165D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E04AF0-3F1A-41DE-91AD-EEE8C9BE502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36" y="1513206"/>
            <a:ext cx="6618132" cy="4878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284E95-9C4C-4103-B9EB-7FA6A7D6A62B}"/>
              </a:ext>
            </a:extLst>
          </p:cNvPr>
          <p:cNvSpPr txBox="1"/>
          <p:nvPr/>
        </p:nvSpPr>
        <p:spPr>
          <a:xfrm>
            <a:off x="7315200" y="1513206"/>
            <a:ext cx="45988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База данных состоит из восьми таблиц. </a:t>
            </a:r>
            <a:r>
              <a:rPr lang="ru-RU" dirty="0" err="1"/>
              <a:t>clients</a:t>
            </a:r>
            <a:r>
              <a:rPr lang="ru-RU" dirty="0"/>
              <a:t> хранит данные владельцев, </a:t>
            </a:r>
            <a:r>
              <a:rPr lang="ru-RU" dirty="0" err="1"/>
              <a:t>animals</a:t>
            </a:r>
            <a:r>
              <a:rPr lang="ru-RU" dirty="0"/>
              <a:t> - питомцев (один клиент - много животных). </a:t>
            </a:r>
            <a:r>
              <a:rPr lang="ru-RU" dirty="0" err="1"/>
              <a:t>bookings</a:t>
            </a:r>
            <a:r>
              <a:rPr lang="ru-RU" dirty="0"/>
              <a:t> фиксирует бронирования, связывая клиента и животное. Услуги хранятся в </a:t>
            </a:r>
            <a:r>
              <a:rPr lang="ru-RU" dirty="0" err="1"/>
              <a:t>services</a:t>
            </a:r>
            <a:r>
              <a:rPr lang="ru-RU" dirty="0"/>
              <a:t>, связь бронирований с услугами - через </a:t>
            </a:r>
            <a:r>
              <a:rPr lang="ru-RU" dirty="0" err="1"/>
              <a:t>bookings_services</a:t>
            </a:r>
            <a:r>
              <a:rPr lang="ru-RU" dirty="0"/>
              <a:t>. </a:t>
            </a:r>
            <a:r>
              <a:rPr lang="ru-RU" dirty="0" err="1"/>
              <a:t>users</a:t>
            </a:r>
            <a:r>
              <a:rPr lang="ru-RU" dirty="0"/>
              <a:t> и </a:t>
            </a:r>
            <a:r>
              <a:rPr lang="ru-RU" dirty="0" err="1"/>
              <a:t>roles</a:t>
            </a:r>
            <a:r>
              <a:rPr lang="ru-RU" dirty="0"/>
              <a:t> управляют доступом (каждый пользователь имеет одну роль), </a:t>
            </a:r>
            <a:r>
              <a:rPr lang="ru-RU" dirty="0" err="1"/>
              <a:t>audit_log</a:t>
            </a:r>
            <a:r>
              <a:rPr lang="ru-RU" dirty="0"/>
              <a:t> фиксирует действия пользователей. Все связи организованы через первичные и внешние ключи.</a:t>
            </a:r>
          </a:p>
        </p:txBody>
      </p:sp>
    </p:spTree>
    <p:extLst>
      <p:ext uri="{BB962C8B-B14F-4D97-AF65-F5344CB8AC3E}">
        <p14:creationId xmlns:p14="http://schemas.microsoft.com/office/powerpoint/2010/main" val="275732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DE251-A2C6-43DB-9C1F-22190103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6541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КОДА: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85D6C6-DFFF-4A85-B3CD-F57E47806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21" y="1541709"/>
            <a:ext cx="5549156" cy="3774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423504-78F5-4650-B68C-51AC64277194}"/>
              </a:ext>
            </a:extLst>
          </p:cNvPr>
          <p:cNvSpPr txBox="1"/>
          <p:nvPr/>
        </p:nvSpPr>
        <p:spPr>
          <a:xfrm>
            <a:off x="2057240" y="5596125"/>
            <a:ext cx="3065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app/routes.py - Работа с клиентами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23E931-3E5D-46E6-B495-870A4BC1F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622" y="1541709"/>
            <a:ext cx="5742058" cy="2886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A7B994-459A-4D6F-8F22-69F2DD0A7D4D}"/>
              </a:ext>
            </a:extLst>
          </p:cNvPr>
          <p:cNvSpPr txBox="1"/>
          <p:nvPr/>
        </p:nvSpPr>
        <p:spPr>
          <a:xfrm>
            <a:off x="7884299" y="4669960"/>
            <a:ext cx="3065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app/routes.py - Работа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сбронированиями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075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5C851-169C-4CC4-AD35-2BE8A235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1"/>
            <a:ext cx="8911687" cy="77438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ЭКРАННЫЕ ФОРМЫ (1)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35D1AB-E720-4498-B432-649EDA226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8" y="1461247"/>
            <a:ext cx="5539292" cy="4132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0252A1-0A6D-4CCB-8DF9-2CFFF5809C2F}"/>
              </a:ext>
            </a:extLst>
          </p:cNvPr>
          <p:cNvSpPr txBox="1"/>
          <p:nvPr/>
        </p:nvSpPr>
        <p:spPr>
          <a:xfrm>
            <a:off x="1904840" y="5784096"/>
            <a:ext cx="306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входа в систему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EE2C5C-9185-4AB3-96CD-A1BA69609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611" y="1461247"/>
            <a:ext cx="5936447" cy="30748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96802D-A9E9-48C8-BA04-FD36062DFD00}"/>
              </a:ext>
            </a:extLst>
          </p:cNvPr>
          <p:cNvSpPr txBox="1"/>
          <p:nvPr/>
        </p:nvSpPr>
        <p:spPr>
          <a:xfrm>
            <a:off x="7773303" y="4681437"/>
            <a:ext cx="3065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администратора и менеджера (добавление клиента)</a:t>
            </a:r>
          </a:p>
        </p:txBody>
      </p:sp>
    </p:spTree>
    <p:extLst>
      <p:ext uri="{BB962C8B-B14F-4D97-AF65-F5344CB8AC3E}">
        <p14:creationId xmlns:p14="http://schemas.microsoft.com/office/powerpoint/2010/main" val="245521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71409-34F6-42EE-B980-3B7C9E5B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8334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ЭКРАННЫЕ ФОРМЫ (2)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4D41D3-B2B0-4BC9-9457-DBC767CBA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1" y="1407459"/>
            <a:ext cx="5997388" cy="27035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0146B3-B4F9-4D5C-84D7-F24323E6D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941" y="3088339"/>
            <a:ext cx="5504330" cy="2889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48A954-EECA-41AD-927E-86E564459C23}"/>
              </a:ext>
            </a:extLst>
          </p:cNvPr>
          <p:cNvSpPr txBox="1"/>
          <p:nvPr/>
        </p:nvSpPr>
        <p:spPr>
          <a:xfrm>
            <a:off x="2000032" y="4348559"/>
            <a:ext cx="306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клиента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169034-BF44-4454-9D84-7D0AC2E5869B}"/>
              </a:ext>
            </a:extLst>
          </p:cNvPr>
          <p:cNvSpPr txBox="1"/>
          <p:nvPr/>
        </p:nvSpPr>
        <p:spPr>
          <a:xfrm>
            <a:off x="8042245" y="6049224"/>
            <a:ext cx="306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 ухода менеджера</a:t>
            </a:r>
          </a:p>
        </p:txBody>
      </p:sp>
    </p:spTree>
    <p:extLst>
      <p:ext uri="{BB962C8B-B14F-4D97-AF65-F5344CB8AC3E}">
        <p14:creationId xmlns:p14="http://schemas.microsoft.com/office/powerpoint/2010/main" val="2898925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1381E-ED93-4F38-9B78-3FA5801B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231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202F5A-5225-4D98-B6CF-6057A2297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5004046"/>
          </a:xfrm>
        </p:spPr>
        <p:txBody>
          <a:bodyPr>
            <a:normAutofit/>
          </a:bodyPr>
          <a:lstStyle/>
          <a:p>
            <a:r>
              <a:rPr lang="ru-RU" dirty="0"/>
              <a:t>СТАТИСТИКА:</a:t>
            </a:r>
          </a:p>
          <a:p>
            <a:pPr marL="0" indent="0">
              <a:buNone/>
            </a:pPr>
            <a:r>
              <a:rPr lang="ru-RU" dirty="0"/>
              <a:t>Всего тестов -12</a:t>
            </a:r>
          </a:p>
          <a:p>
            <a:pPr marL="0" indent="0">
              <a:buNone/>
            </a:pPr>
            <a:r>
              <a:rPr lang="ru-RU" dirty="0"/>
              <a:t>Пройдено – 12</a:t>
            </a:r>
          </a:p>
          <a:p>
            <a:pPr marL="0" indent="0">
              <a:buNone/>
            </a:pPr>
            <a:r>
              <a:rPr lang="ru-RU" dirty="0"/>
              <a:t>Не пройдено – 0</a:t>
            </a:r>
          </a:p>
          <a:p>
            <a:pPr marL="0" indent="0">
              <a:buNone/>
            </a:pPr>
            <a:r>
              <a:rPr lang="ru-RU" dirty="0"/>
              <a:t>Покрытие кода - 78%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ПРИМЕР ТЕСТА: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test_check_availability_free_dates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result = </a:t>
            </a:r>
            <a:r>
              <a:rPr lang="en-US" dirty="0" err="1"/>
              <a:t>check_availability</a:t>
            </a:r>
            <a:r>
              <a:rPr lang="en-US" dirty="0"/>
              <a:t>(None, date(2025,7,10), date(2025,7,15))</a:t>
            </a:r>
          </a:p>
          <a:p>
            <a:pPr marL="0" indent="0">
              <a:buNone/>
            </a:pPr>
            <a:r>
              <a:rPr lang="en-US" dirty="0"/>
              <a:t>assert result == True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ВЫВОД: Все тесты пройдены, система работает корректно</a:t>
            </a:r>
          </a:p>
        </p:txBody>
      </p:sp>
    </p:spTree>
    <p:extLst>
      <p:ext uri="{BB962C8B-B14F-4D97-AF65-F5344CB8AC3E}">
        <p14:creationId xmlns:p14="http://schemas.microsoft.com/office/powerpoint/2010/main" val="761873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B0B5A-180F-4DDA-BB68-EF35E87B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9208"/>
          </a:xfrm>
        </p:spPr>
        <p:txBody>
          <a:bodyPr/>
          <a:lstStyle/>
          <a:p>
            <a:r>
              <a:rPr lang="ru-RU" dirty="0"/>
              <a:t>Заключение и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AD2A28-3009-4BE2-A9C4-26660810F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76400"/>
            <a:ext cx="8915400" cy="3777622"/>
          </a:xfrm>
        </p:spPr>
        <p:txBody>
          <a:bodyPr>
            <a:normAutofit/>
          </a:bodyPr>
          <a:lstStyle/>
          <a:p>
            <a:r>
              <a:rPr lang="ru-RU" dirty="0"/>
              <a:t>В ходе курсовой работы разработана информационная система учёта клиентов гостиницы для животных. Проведён анализ аналогов и обоснован выбор технологий: </a:t>
            </a:r>
            <a:r>
              <a:rPr lang="ru-RU" dirty="0" err="1"/>
              <a:t>Python</a:t>
            </a:r>
            <a:r>
              <a:rPr lang="ru-RU" dirty="0"/>
              <a:t>,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PostgreSQL</a:t>
            </a:r>
            <a:r>
              <a:rPr lang="ru-RU" dirty="0"/>
              <a:t>, HTML, CSS, </a:t>
            </a:r>
            <a:r>
              <a:rPr lang="ru-RU" dirty="0" err="1"/>
              <a:t>JavaScript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Спроектирована база данных из девяти таблиц, разработана серверная часть с REST API и JWT-аутентификацией. Создан веб-интерфейс для администратора, менеджера и клиента. Тестирование подтвердило корректную работу системы: 12 модульных тестов успешно пройдены, покрытие кода – 78%.</a:t>
            </a:r>
          </a:p>
        </p:txBody>
      </p:sp>
    </p:spTree>
    <p:extLst>
      <p:ext uri="{BB962C8B-B14F-4D97-AF65-F5344CB8AC3E}">
        <p14:creationId xmlns:p14="http://schemas.microsoft.com/office/powerpoint/2010/main" val="111145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1E94D-F57C-4A6B-92B3-32A3B336B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914" y="2488769"/>
            <a:ext cx="8911687" cy="128089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0D45D-9164-42E8-BDEE-379BEAB54A7C}"/>
              </a:ext>
            </a:extLst>
          </p:cNvPr>
          <p:cNvSpPr txBox="1"/>
          <p:nvPr/>
        </p:nvSpPr>
        <p:spPr>
          <a:xfrm>
            <a:off x="3555953" y="3584993"/>
            <a:ext cx="6483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http://localhost:8000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B414A-80DD-4BF6-966C-28B25E787BFC}"/>
              </a:ext>
            </a:extLst>
          </p:cNvPr>
          <p:cNvSpPr txBox="1"/>
          <p:nvPr/>
        </p:nvSpPr>
        <p:spPr>
          <a:xfrm>
            <a:off x="5035744" y="4356847"/>
            <a:ext cx="3524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Задавайте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375759718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252</TotalTime>
  <Words>545</Words>
  <Application>Microsoft Office PowerPoint</Application>
  <PresentationFormat>Широкоэкранный</PresentationFormat>
  <Paragraphs>66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Легкий дым</vt:lpstr>
      <vt:lpstr>РАЗРАБОТКА СИСТЕМЫ УЧЁТА КЛИЕНТОВ ГОСТИНИЦЫ ДЛЯ ЖИВОТНЫХ</vt:lpstr>
      <vt:lpstr>АКТУАЛЬНОСТЬ ТЕМЫ</vt:lpstr>
      <vt:lpstr>ЦЕЛЬ И ЗАДАЧИ РАБОТЫ</vt:lpstr>
      <vt:lpstr>СТЕК ТЕХНОЛОГИЙ</vt:lpstr>
      <vt:lpstr>АРХИТЕКТУРА СИСТЕМЫ</vt:lpstr>
      <vt:lpstr>СХЕМА БАЗЫ ДАННЫХ</vt:lpstr>
      <vt:lpstr>ПРИМЕР КОДА: CRUD ОПЕРАЦИИ</vt:lpstr>
      <vt:lpstr>ЭКРАННЫЕ ФОРМЫ (1)</vt:lpstr>
      <vt:lpstr>ЭКРАННЫЕ ФОРМЫ (2)</vt:lpstr>
      <vt:lpstr>РЕЗУЛЬТАТЫ ТЕСТИРОВАНИЯ</vt:lpstr>
      <vt:lpstr>Заключение и результаты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УЧЁТА КЛИЕНТОВ ГОСТИНИЦЫ ДЛЯ ЖИВОТНЫХ</dc:title>
  <dc:creator>Svetik</dc:creator>
  <cp:lastModifiedBy>Svetik</cp:lastModifiedBy>
  <cp:revision>1</cp:revision>
  <dcterms:created xsi:type="dcterms:W3CDTF">2026-05-31T20:54:44Z</dcterms:created>
  <dcterms:modified xsi:type="dcterms:W3CDTF">2026-06-01T01:07:19Z</dcterms:modified>
</cp:coreProperties>
</file>